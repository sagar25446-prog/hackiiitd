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0f9ab9c-f61a-2c0a-ca44-3b873b71e530}">
          <p14:sldIdLst>
            <p14:sldId id="256"/>
          </p14:sldIdLst>
        </p14:section>
        <p14:section name="Problem &amp; solution" id="{2f178f6a-7c7d-df61-4bc3-09c7977e99ef}">
          <p14:sldIdLst>
            <p14:sldId id="257"/>
            <p14:sldId id="258"/>
          </p14:sldIdLst>
        </p14:section>
        <p14:section name="Technology" id="{464cb2c9-816d-75fd-5ed7-d25326d17533}">
          <p14:sldIdLst>
            <p14:sldId id="259"/>
            <p14:sldId id="260"/>
            <p14:sldId id="261"/>
          </p14:sldIdLst>
        </p14:section>
        <p14:section name="Evidence &amp; impact" id="{3becb49f-eb11-5959-abcc-468f58506f75}">
          <p14:sldIdLst>
            <p14:sldId id="262"/>
            <p14:sldId id="263"/>
          </p14:sldIdLst>
        </p14:section>
        <p14:section name="Close" id="{70b954a8-0953-720d-1cdb-1c3903b40c35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Unclaimed (₹ thousand crore)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897C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8962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B5BD6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D9534A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Bank deposits</c:v>
                </c:pt>
                <c:pt idx="1">
                  <c:v>Insurance</c:v>
                </c:pt>
                <c:pt idx="2">
                  <c:v>Dividends</c:v>
                </c:pt>
                <c:pt idx="3">
                  <c:v>Mutual funds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</c:v>
                </c:pt>
                <c:pt idx="1">
                  <c:v>14</c:v>
                </c:pt>
                <c:pt idx="2">
                  <c:v>9</c:v>
                </c:pt>
                <c:pt idx="3">
                  <c:v>3</c:v>
                </c:pt>
              </c:numCache>
            </c:numRef>
          </c:val>
        </c:ser>
        <c:firstSliceAng val="0"/>
        <c:holeSize val="6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crore / year</c:v>
                </c:pt>
              </c:strCache>
            </c:strRef>
          </c:tx>
          <c:spPr>
            <a:solidFill>
              <a:srgbClr val="E8962A"/>
            </a:solidFill>
            <a:effectLst/>
          </c:spPr>
          <c:invertIfNegative val="0"/>
          <c:dLbls>
            <c:numFmt formatCode="&quot;₹&quot;0.0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02A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96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80C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897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CSC console</c:v>
                  </c:pt>
                  <c:pt idx="1">
                    <c:v>Bank / insurer fees</c:v>
                  </c:pt>
                  <c:pt idx="2">
                    <c:v>District dashboards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1.23</c:v>
                </c:pt>
                <c:pt idx="1">
                  <c:v>1.25</c:v>
                </c:pt>
                <c:pt idx="2">
                  <c:v>0.4</c:v>
                </c:pt>
              </c:numCache>
            </c:numRef>
          </c:val>
        </c:ser>
        <c:dLbls>
          <c:numFmt formatCode="&quot;₹&quot;0.00" sourceLinked="0"/>
          <c:txPr>
            <a:bodyPr/>
            <a:lstStyle/>
            <a:p>
              <a:pPr>
                <a:defRPr b="1" i="0" strike="noStrike" sz="1100" u="none">
                  <a:solidFill>
                    <a:srgbClr val="102A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F7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2815" y="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JAAGRUK  ·  HackIIITD 2026  ·  Final submission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slideLayout" Target="../slideLayouts/slideLayout3.xml"/><Relationship Id="rId3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image" Target="../media/image-8-7.png"/><Relationship Id="rId9" Type="http://schemas.openxmlformats.org/officeDocument/2006/relationships/image" Target="../media/image-8-8.png"/><Relationship Id="rId10" Type="http://schemas.openxmlformats.org/officeDocument/2006/relationships/image" Target="../media/image-8-9.png"/><Relationship Id="rId11" Type="http://schemas.openxmlformats.org/officeDocument/2006/relationships/image" Target="../media/image-8-10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566160" cy="329184"/>
          </a:xfrm>
          <a:prstGeom prst="roundRect">
            <a:avLst>
              <a:gd name="adj" fmla="val 50000"/>
            </a:avLst>
          </a:prstGeom>
          <a:solidFill>
            <a:schemeClr val="bg1">
              <a:alpha val="15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HackIIITD '26  ·  Esya  ·  Final submission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8686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JAAGRUK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105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जागरूक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  Janta's AI Agent for Government Rights, Updates &amp; Knowledge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your family is owed — </a:t>
            </a:r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found, proven, claimed.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Hindi/English app that checks each entitlement against official rules with a Z3 solver, turns life changes into ready-to-act cases, and prepares unclaimed-money recovery on the live government web through TinyFish.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553712"/>
            <a:ext cx="1874520" cy="329184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rgbClr val="4E8F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537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Z3-checked eligibility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2888" y="4553712"/>
            <a:ext cx="1691640" cy="329184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rgbClr val="4E8F8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32888" y="45537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 TinyFish products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4256" y="4553712"/>
            <a:ext cx="1691640" cy="329184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rgbClr val="4E8F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34256" y="45537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 .gov.in portals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35624" y="4553712"/>
            <a:ext cx="1325880" cy="329184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rgbClr val="4E8F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35624" y="455371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हिन्दी + English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THE TEAM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883664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" y="56235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6656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25296" y="5605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Ayush Awasthi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25296" y="5870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AI/ML &amp; agents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5440680"/>
            <a:ext cx="1883664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70048" y="56235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670048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18688" y="5605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Saif Nasim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218688" y="5870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Backend &amp; TinyFish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35424" y="5440680"/>
            <a:ext cx="1883664" cy="82296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562356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634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5605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Sagar Hundia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5870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Frontend &amp; UI/UX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65976" y="813816"/>
            <a:ext cx="4864608" cy="3442963"/>
          </a:xfrm>
          <a:prstGeom prst="roundRect">
            <a:avLst>
              <a:gd name="adj" fmla="val 2125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3" name="Image 0" descr="JAAGRUK My plan screen for the Sunita sample fami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868680"/>
            <a:ext cx="4754880" cy="3333235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10323576" y="3191256"/>
            <a:ext cx="1435608" cy="2979068"/>
          </a:xfrm>
          <a:prstGeom prst="roundRect">
            <a:avLst>
              <a:gd name="adj" fmla="val 5096"/>
            </a:avLst>
          </a:prstGeom>
          <a:solidFill>
            <a:schemeClr val="bg1"/>
          </a:solidFill>
          <a:ln w="9525">
            <a:solidFill>
              <a:srgbClr val="D5E3E0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5" name="Image 1" descr="JAAGRUK on a phone in Hind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3246120"/>
            <a:ext cx="1325880" cy="286934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6949440" y="5257800"/>
            <a:ext cx="2514600" cy="868680"/>
          </a:xfrm>
          <a:prstGeom prst="roundRect">
            <a:avLst>
              <a:gd name="adj" fmla="val 1473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7086600" y="53949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8" name="Image 2" descr="Rupe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5541264"/>
            <a:ext cx="301752" cy="30175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818120" y="53675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₹1.04 lakh cr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unclaimed in India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 ·  PROBLEM STATEMENT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Families miss money and benefits they are already owed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393192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72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UNCLAIMED IN INDIA</a:t>
            </a:r>
            <a:endParaRPr lang="en-US" sz="1100" dirty="0"/>
          </a:p>
        </p:txBody>
      </p:sp>
      <p:graphicFrame>
        <p:nvGraphicFramePr>
          <p:cNvPr id="6" name="Unclaimed money doughnut" descr=""/>
          <p:cNvGraphicFramePr/>
          <p:nvPr/>
        </p:nvGraphicFramePr>
        <p:xfrm>
          <a:off x="1234440" y="1847088"/>
          <a:ext cx="24688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234440" y="26700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₹1.04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lakh crore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4379976"/>
            <a:ext cx="146304" cy="146304"/>
          </a:xfrm>
          <a:prstGeom prst="ellipse">
            <a:avLst/>
          </a:prstGeom>
          <a:solidFill>
            <a:srgbClr val="14897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96696" y="4315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Bank deposits 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₹78k cr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14600" y="4379976"/>
            <a:ext cx="146304" cy="146304"/>
          </a:xfrm>
          <a:prstGeom prst="ellipse">
            <a:avLst/>
          </a:prstGeom>
          <a:solidFill>
            <a:srgbClr val="E896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4056" y="43159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Insurance 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₹14k cr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4709160"/>
            <a:ext cx="146304" cy="146304"/>
          </a:xfrm>
          <a:prstGeom prst="ellipse">
            <a:avLst/>
          </a:prstGeom>
          <a:solidFill>
            <a:srgbClr val="5B5BD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96696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Dividends 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₹9k cr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14600" y="4709160"/>
            <a:ext cx="146304" cy="146304"/>
          </a:xfrm>
          <a:prstGeom prst="ellipse">
            <a:avLst/>
          </a:prstGeom>
          <a:solidFill>
            <a:srgbClr val="D953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734056" y="4645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Mutual funds  </a:t>
            </a:r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₹3k cr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5029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Source: PIB, Dec 2025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0" y="141732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8" name="icon FaSitemap"/>
          <p:cNvSpPr/>
          <p:nvPr/>
        </p:nvSpPr>
        <p:spPr>
          <a:xfrm>
            <a:off x="4754880" y="16002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0" descr="Sitema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324" y="1723644"/>
            <a:ext cx="210312" cy="21031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349240" y="1554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4754880" y="21945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government schemes — citizens must search many department websites and guidelines to check eligibility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4754880" y="29992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MeitY · myScheme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0" y="3429000"/>
            <a:ext cx="274320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4" name="icon FaQuestionCircle"/>
          <p:cNvSpPr/>
          <p:nvPr/>
        </p:nvSpPr>
        <p:spPr>
          <a:xfrm>
            <a:off x="4754880" y="36118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mage 1" descr="Question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373532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349240" y="3566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800" dirty="0"/>
          </a:p>
        </p:txBody>
      </p:sp>
      <p:sp>
        <p:nvSpPr>
          <p:cNvPr id="27" name="Text 22"/>
          <p:cNvSpPr txBox="1"/>
          <p:nvPr/>
        </p:nvSpPr>
        <p:spPr>
          <a:xfrm>
            <a:off x="4754880" y="42062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of PM-JAY households surveyed did not know how to claim a benefit they already had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4754880" y="501091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Haqdarshak survey, 6 states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498080" y="1417320"/>
            <a:ext cx="4142232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699248" y="15727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chemeClr val="tx2"/>
                </a:solidFill>
              </a:rPr>
              <a:t>SUNITA, 52, DELHI · HUSBAND DIED LAST MONTH</a:t>
            </a:r>
            <a:endParaRPr lang="en-US" sz="1050" dirty="0"/>
          </a:p>
        </p:txBody>
      </p:sp>
      <p:sp>
        <p:nvSpPr>
          <p:cNvPr id="31" name="icon FaBalanceScale"/>
          <p:cNvSpPr/>
          <p:nvPr/>
        </p:nvSpPr>
        <p:spPr>
          <a:xfrm>
            <a:off x="7699248" y="19842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mage 2" descr="BalanceSca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816" y="2097816"/>
            <a:ext cx="193487" cy="193487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247888" y="193852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Rules are scattered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8247888" y="218541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Each scheme has its own age, income and residence rules, in legal English across portals and PDFs.</a:t>
            </a:r>
            <a:endParaRPr lang="en-US" sz="1100" dirty="0"/>
          </a:p>
        </p:txBody>
      </p:sp>
      <p:sp>
        <p:nvSpPr>
          <p:cNvPr id="35" name="icon FaLock"/>
          <p:cNvSpPr/>
          <p:nvPr/>
        </p:nvSpPr>
        <p:spPr>
          <a:xfrm>
            <a:off x="7699248" y="28346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3" descr="Lo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816" y="2948208"/>
            <a:ext cx="193487" cy="193487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247888" y="278892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Money is hidden</a:t>
            </a:r>
            <a:endParaRPr lang="en-US" sz="1250" dirty="0"/>
          </a:p>
        </p:txBody>
      </p:sp>
      <p:sp>
        <p:nvSpPr>
          <p:cNvPr id="38" name="Text 31"/>
          <p:cNvSpPr txBox="1"/>
          <p:nvPr/>
        </p:nvSpPr>
        <p:spPr>
          <a:xfrm>
            <a:off x="8247888" y="3035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Each unclaimed-money portal covers one asset type, with its own form, login, OTP or CAPTCHA.</a:t>
            </a:r>
            <a:endParaRPr lang="en-US" sz="1100" dirty="0"/>
          </a:p>
        </p:txBody>
      </p:sp>
      <p:sp>
        <p:nvSpPr>
          <p:cNvPr id="39" name="icon FaUniversity"/>
          <p:cNvSpPr/>
          <p:nvPr/>
        </p:nvSpPr>
        <p:spPr>
          <a:xfrm>
            <a:off x="7699248" y="3685032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0" name="Image 4" descr="University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2816" y="3798600"/>
            <a:ext cx="193487" cy="193487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247888" y="363931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Finder ≠ payer</a:t>
            </a:r>
            <a:endParaRPr lang="en-US" sz="1250" dirty="0"/>
          </a:p>
        </p:txBody>
      </p:sp>
      <p:sp>
        <p:nvSpPr>
          <p:cNvPr id="42" name="Text 34"/>
          <p:cNvSpPr txBox="1"/>
          <p:nvPr/>
        </p:nvSpPr>
        <p:spPr>
          <a:xfrm>
            <a:off x="8247888" y="3886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UDGAM, MITRA and IEPF find a record — the bank, AMC or company actually pays.</a:t>
            </a:r>
            <a:endParaRPr lang="en-US" sz="1100" dirty="0"/>
          </a:p>
        </p:txBody>
      </p:sp>
      <p:sp>
        <p:nvSpPr>
          <p:cNvPr id="43" name="icon FaRegCalendarAlt"/>
          <p:cNvSpPr/>
          <p:nvPr/>
        </p:nvSpPr>
        <p:spPr>
          <a:xfrm>
            <a:off x="7699248" y="4535424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4" name="Image 5" descr="RegCalendarAl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816" y="4648992"/>
            <a:ext cx="193487" cy="193487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8247888" y="448970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Deadlines move</a:t>
            </a:r>
            <a:endParaRPr lang="en-US" sz="1250" dirty="0"/>
          </a:p>
        </p:txBody>
      </p:sp>
      <p:sp>
        <p:nvSpPr>
          <p:cNvPr id="46" name="Text 37"/>
          <p:cNvSpPr txBox="1"/>
          <p:nvPr/>
        </p:nvSpPr>
        <p:spPr>
          <a:xfrm>
            <a:off x="8247888" y="47365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Her daughter's scholarship renewal changes on boards nobody watches.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548640" y="5532120"/>
            <a:ext cx="11091672" cy="713232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48" name="Text 39"/>
          <p:cNvSpPr txBox="1"/>
          <p:nvPr/>
        </p:nvSpPr>
        <p:spPr>
          <a:xfrm>
            <a:off x="777240" y="553212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People claim when someone helps: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₹5,777 cr went back to 22.95 lakh claimants in three months of help camps (PIB, Mar 2026). Portals list information — nobody watches, matches, verifies and acts for one family.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 ·  SOLUTION STATEMENT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Find, check, prepare — and the family approves every step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One phone-first app for an Indian family's schemes, scholarships, exams, insurance and its own unclaimed money.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5477256" cy="2157984"/>
          </a:xfrm>
          <a:prstGeom prst="roundRect">
            <a:avLst>
              <a:gd name="adj" fmla="val 5085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19072"/>
            <a:ext cx="3291840" cy="1975104"/>
          </a:xfrm>
          <a:prstGeom prst="roundRect">
            <a:avLst>
              <a:gd name="adj" fmla="val 4630"/>
            </a:avLst>
          </a:prstGeom>
          <a:solidFill>
            <a:schemeClr val="accent1">
              <a:alpha val="16000"/>
            </a:schemeClr>
          </a:solidFill>
          <a:ln/>
        </p:spPr>
      </p:sp>
      <p:sp>
        <p:nvSpPr>
          <p:cNvPr id="7" name="Shape 5"/>
          <p:cNvSpPr/>
          <p:nvPr/>
        </p:nvSpPr>
        <p:spPr>
          <a:xfrm>
            <a:off x="1169836" y="1778508"/>
            <a:ext cx="2232329" cy="1856232"/>
          </a:xfrm>
          <a:prstGeom prst="rect">
            <a:avLst/>
          </a:prstGeom>
          <a:solidFill>
            <a:schemeClr val="bg1"/>
          </a:solidFill>
          <a:ln w="9525">
            <a:solidFill>
              <a:srgbClr val="CFDFDB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8" name="Image 0" descr="Why? view: each rule clause checked by the Z3 solver, with the official source and a live re-check butt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696" y="1801368"/>
            <a:ext cx="2186609" cy="1810512"/>
          </a:xfrm>
          <a:prstGeom prst="rect">
            <a:avLst/>
          </a:prstGeom>
        </p:spPr>
      </p:pic>
      <p:sp>
        <p:nvSpPr>
          <p:cNvPr id="9" name="icon FaHome"/>
          <p:cNvSpPr/>
          <p:nvPr/>
        </p:nvSpPr>
        <p:spPr>
          <a:xfrm>
            <a:off x="4069080" y="1783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Hom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73" y="1886773"/>
            <a:ext cx="176662" cy="17666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1783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plan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69080" y="2286000"/>
            <a:ext cx="1874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Next 3 actions + benefit estimates by type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“Why?”: Z3 checks every clause, with source and date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“Re-check live” reads today's page (TinyFish Fetch)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63056" y="1627632"/>
            <a:ext cx="5477256" cy="2157984"/>
          </a:xfrm>
          <a:prstGeom prst="roundRect">
            <a:avLst>
              <a:gd name="adj" fmla="val 5085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54496" y="1719072"/>
            <a:ext cx="3291840" cy="1975104"/>
          </a:xfrm>
          <a:prstGeom prst="roundRect">
            <a:avLst>
              <a:gd name="adj" fmla="val 4630"/>
            </a:avLst>
          </a:prstGeom>
          <a:solidFill>
            <a:schemeClr val="accent2">
              <a:alpha val="16000"/>
            </a:schemeClr>
          </a:solidFill>
          <a:ln/>
        </p:spPr>
      </p:sp>
      <p:sp>
        <p:nvSpPr>
          <p:cNvPr id="15" name="Shape 11"/>
          <p:cNvSpPr/>
          <p:nvPr/>
        </p:nvSpPr>
        <p:spPr>
          <a:xfrm>
            <a:off x="6313932" y="1801295"/>
            <a:ext cx="3172968" cy="1810657"/>
          </a:xfrm>
          <a:prstGeom prst="rect">
            <a:avLst/>
          </a:prstGeom>
          <a:solidFill>
            <a:schemeClr val="bg1"/>
          </a:solidFill>
          <a:ln w="9525">
            <a:solidFill>
              <a:srgbClr val="CFDFDB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16" name="Image 2" descr="Life update preview: a new scholarship renewal case for Riya, before anything is sav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824155"/>
            <a:ext cx="3127248" cy="1764937"/>
          </a:xfrm>
          <a:prstGeom prst="rect">
            <a:avLst/>
          </a:prstGeom>
        </p:spPr>
      </p:pic>
      <p:sp>
        <p:nvSpPr>
          <p:cNvPr id="17" name="icon FaCalendarCheck"/>
          <p:cNvSpPr/>
          <p:nvPr/>
        </p:nvSpPr>
        <p:spPr>
          <a:xfrm>
            <a:off x="9683496" y="178308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3" descr="Calenda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189" y="1886773"/>
            <a:ext cx="176662" cy="17666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140696" y="1783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update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9683496" y="2286000"/>
            <a:ext cx="1874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Write or say: “Riya got into second year”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Preview the new case, questions, documents — nothing saved yet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Apply refused if plan or rules changed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3895344"/>
            <a:ext cx="5477256" cy="2157984"/>
          </a:xfrm>
          <a:prstGeom prst="roundRect">
            <a:avLst>
              <a:gd name="adj" fmla="val 5085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0080" y="3986784"/>
            <a:ext cx="3291840" cy="1975104"/>
          </a:xfrm>
          <a:prstGeom prst="roundRect">
            <a:avLst>
              <a:gd name="adj" fmla="val 4630"/>
            </a:avLst>
          </a:prstGeom>
          <a:solidFill>
            <a:schemeClr val="accent5">
              <a:alpha val="16000"/>
            </a:schemeClr>
          </a:solidFill>
          <a:ln/>
        </p:spPr>
      </p:sp>
      <p:sp>
        <p:nvSpPr>
          <p:cNvPr id="23" name="Shape 17"/>
          <p:cNvSpPr/>
          <p:nvPr/>
        </p:nvSpPr>
        <p:spPr>
          <a:xfrm>
            <a:off x="749039" y="4046220"/>
            <a:ext cx="3073921" cy="1856232"/>
          </a:xfrm>
          <a:prstGeom prst="rect">
            <a:avLst/>
          </a:prstGeom>
          <a:solidFill>
            <a:schemeClr val="bg1"/>
          </a:solidFill>
          <a:ln w="9525">
            <a:solidFill>
              <a:srgbClr val="CFDFDB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24" name="Image 4" descr="Paperwork: choose the person, state and need, then build the document checkli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99" y="4069080"/>
            <a:ext cx="3028201" cy="1810512"/>
          </a:xfrm>
          <a:prstGeom prst="rect">
            <a:avLst/>
          </a:prstGeom>
        </p:spPr>
      </p:pic>
      <p:sp>
        <p:nvSpPr>
          <p:cNvPr id="25" name="icon FaClipboardList"/>
          <p:cNvSpPr/>
          <p:nvPr/>
        </p:nvSpPr>
        <p:spPr>
          <a:xfrm>
            <a:off x="4069080" y="4050792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Image 5" descr="ClipboardLis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2773" y="4154485"/>
            <a:ext cx="176662" cy="17666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26280" y="40507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Paperwork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4069080" y="4553712"/>
            <a:ext cx="1874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Minimum checklist for this person, service and state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From reviewed official routes — no invented lists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Anything else: TinyFish Search finds .gov.in guidance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6163056" y="3895344"/>
            <a:ext cx="5477256" cy="2157984"/>
          </a:xfrm>
          <a:prstGeom prst="roundRect">
            <a:avLst>
              <a:gd name="adj" fmla="val 5085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254496" y="3986784"/>
            <a:ext cx="3291840" cy="1975104"/>
          </a:xfrm>
          <a:prstGeom prst="roundRect">
            <a:avLst>
              <a:gd name="adj" fmla="val 4630"/>
            </a:avLst>
          </a:prstGeom>
          <a:solidFill>
            <a:schemeClr val="accent3">
              <a:alpha val="16000"/>
            </a:schemeClr>
          </a:solidFill>
          <a:ln/>
        </p:spPr>
      </p:sp>
      <p:sp>
        <p:nvSpPr>
          <p:cNvPr id="31" name="Shape 23"/>
          <p:cNvSpPr/>
          <p:nvPr/>
        </p:nvSpPr>
        <p:spPr>
          <a:xfrm>
            <a:off x="6505615" y="4046220"/>
            <a:ext cx="2789602" cy="1856232"/>
          </a:xfrm>
          <a:prstGeom prst="rect">
            <a:avLst/>
          </a:prstGeom>
          <a:solidFill>
            <a:schemeClr val="bg1"/>
          </a:solidFill>
          <a:ln w="9525">
            <a:solidFill>
              <a:srgbClr val="CFDFDB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2" name="Image 6" descr="Wapsi recovery case summary: asset holder, claimant, route and the institution that pay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475" y="4069080"/>
            <a:ext cx="2743882" cy="1810512"/>
          </a:xfrm>
          <a:prstGeom prst="rect">
            <a:avLst/>
          </a:prstGeom>
        </p:spPr>
      </p:pic>
      <p:sp>
        <p:nvSpPr>
          <p:cNvPr id="33" name="icon FaWallet"/>
          <p:cNvSpPr/>
          <p:nvPr/>
        </p:nvSpPr>
        <p:spPr>
          <a:xfrm>
            <a:off x="9683496" y="4050792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4" name="Image 7" descr="Wallet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7189" y="4154485"/>
            <a:ext cx="176662" cy="17666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0140696" y="405079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Wapsi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9683496" y="4553712"/>
            <a:ext cx="18745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Case first: holder, claimant, relation, claim capacity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Automated check (LIC, Tata AIA) or official site for OTP/CAPTCHA</a:t>
            </a:r>
            <a:endParaRPr lang="en-US" sz="1050" dirty="0"/>
          </a:p>
          <a:p>
            <a:pPr marL="139700" indent="-1397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Claim prepared with the institution that pays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548640" y="6099048"/>
            <a:ext cx="1938528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D6D1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548640" y="6099048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6163056"/>
            <a:ext cx="164592" cy="164592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932688" y="6099048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Reasons, not guesses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2624328" y="6099048"/>
            <a:ext cx="2267712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D6D1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2624328" y="60990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1488" y="6163056"/>
            <a:ext cx="164592" cy="164592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3008376" y="6099048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Nothing submitted for you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5029200" y="6099048"/>
            <a:ext cx="2531059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D6D1"/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5029200" y="6099048"/>
            <a:ext cx="2531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66360" y="6163056"/>
            <a:ext cx="164592" cy="164592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5413248" y="6099048"/>
            <a:ext cx="20738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Never sees an OTP or password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7697419" y="6099048"/>
            <a:ext cx="2136038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D6D1"/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7697419" y="6099048"/>
            <a:ext cx="21360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4579" y="6163056"/>
            <a:ext cx="164592" cy="164592"/>
          </a:xfrm>
          <a:prstGeom prst="rect">
            <a:avLst/>
          </a:prstGeom>
        </p:spPr>
      </p:pic>
      <p:sp>
        <p:nvSpPr>
          <p:cNvPr id="52" name="Text 38"/>
          <p:cNvSpPr txBox="1"/>
          <p:nvPr/>
        </p:nvSpPr>
        <p:spPr>
          <a:xfrm>
            <a:off x="8081467" y="6099048"/>
            <a:ext cx="16788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हिन्दी + English, voice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 ·  TECH STACK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light, testable stack built for the live government web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896112"/>
          </a:xfrm>
          <a:prstGeom prst="roundRect">
            <a:avLst>
              <a:gd name="adj" fmla="val 12245"/>
            </a:avLst>
          </a:prstGeom>
          <a:solidFill>
            <a:schemeClr val="accent5">
              <a:alpha val="14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2011680" cy="896112"/>
          </a:xfrm>
          <a:prstGeom prst="roundRect">
            <a:avLst>
              <a:gd name="adj" fmla="val 12245"/>
            </a:avLst>
          </a:prstGeom>
          <a:solidFill>
            <a:schemeClr val="accent5"/>
          </a:solidFill>
          <a:ln/>
        </p:spPr>
      </p:sp>
      <p:pic>
        <p:nvPicPr>
          <p:cNvPr id="6" name="Image 0" descr="Fronten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417320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670048" y="1499616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9" name="Image 1" descr="React 18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776" y="170078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182112" y="1499616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React 18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component UI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464101" y="1499616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12" name="Image 2" descr="TypeScript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829" y="170078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976165" y="1499616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TypeScript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typed end to end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58154" y="1499616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15" name="Image 3" descr="Vite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882" y="1700784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770218" y="1499616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Vite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fast build, lazy screens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8052206" y="1499616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18" name="Image 4" descr="Tailwind CSS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934" y="1700784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564270" y="1499616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Tailwind CSS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48 px touch targets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846259" y="1499616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21" name="Image 5" descr="Installable PWA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5987" y="1700784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358323" y="1499616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Installable PWA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हिन्दी / English, voice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548640" y="2404872"/>
            <a:ext cx="11091672" cy="896112"/>
          </a:xfrm>
          <a:prstGeom prst="roundRect">
            <a:avLst>
              <a:gd name="adj" fmla="val 12245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24" name="Shape 16"/>
          <p:cNvSpPr/>
          <p:nvPr/>
        </p:nvSpPr>
        <p:spPr>
          <a:xfrm>
            <a:off x="548640" y="2404872"/>
            <a:ext cx="2011680" cy="896112"/>
          </a:xfrm>
          <a:prstGeom prst="roundRect">
            <a:avLst>
              <a:gd name="adj" fmla="val 12245"/>
            </a:avLst>
          </a:prstGeom>
          <a:solidFill>
            <a:schemeClr val="accent1"/>
          </a:solidFill>
          <a:ln/>
        </p:spPr>
      </p:sp>
      <p:pic>
        <p:nvPicPr>
          <p:cNvPr id="25" name="Image 6" descr="Backen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679192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188720" y="2404872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2670048" y="2487168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28" name="Image 7" descr="Python 3.12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9776" y="2688336"/>
            <a:ext cx="329184" cy="32918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3182112" y="2487168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Python 3.12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typed services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4464101" y="2487168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1" name="Image 8" descr="FastAPI log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3829" y="2688336"/>
            <a:ext cx="329184" cy="329184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4976165" y="2487168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FastAPI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REST + SSE job streams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258154" y="2487168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4" name="Image 9" descr="Job ledger log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7882" y="2688336"/>
            <a:ext cx="329184" cy="329184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770218" y="2487168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Job ledger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restart-safe jobs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8052206" y="2487168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7" name="Image 10" descr="SQLite (WAL) log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1934" y="2688336"/>
            <a:ext cx="329184" cy="329184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8564270" y="2487168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SQLite (WAL)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call log, helper links</a:t>
            </a:r>
            <a:endParaRPr lang="en-US" sz="1300" dirty="0"/>
          </a:p>
        </p:txBody>
      </p:sp>
      <p:sp>
        <p:nvSpPr>
          <p:cNvPr id="39" name="Shape 26"/>
          <p:cNvSpPr/>
          <p:nvPr/>
        </p:nvSpPr>
        <p:spPr>
          <a:xfrm>
            <a:off x="9846259" y="2487168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40" name="Image 11" descr="FTS5 log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55987" y="2688336"/>
            <a:ext cx="329184" cy="329184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10358323" y="2487168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FTS5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1,135-scheme search</a:t>
            </a:r>
            <a:endParaRPr lang="en-US" sz="1300" dirty="0"/>
          </a:p>
        </p:txBody>
      </p:sp>
      <p:sp>
        <p:nvSpPr>
          <p:cNvPr id="42" name="Shape 28"/>
          <p:cNvSpPr/>
          <p:nvPr/>
        </p:nvSpPr>
        <p:spPr>
          <a:xfrm>
            <a:off x="548640" y="3392424"/>
            <a:ext cx="11091672" cy="896112"/>
          </a:xfrm>
          <a:prstGeom prst="roundRect">
            <a:avLst>
              <a:gd name="adj" fmla="val 12245"/>
            </a:avLst>
          </a:prstGeom>
          <a:solidFill>
            <a:schemeClr val="accent4">
              <a:alpha val="14000"/>
            </a:schemeClr>
          </a:solidFill>
          <a:ln/>
        </p:spPr>
      </p:sp>
      <p:sp>
        <p:nvSpPr>
          <p:cNvPr id="43" name="Shape 29"/>
          <p:cNvSpPr/>
          <p:nvPr/>
        </p:nvSpPr>
        <p:spPr>
          <a:xfrm>
            <a:off x="548640" y="3392424"/>
            <a:ext cx="2011680" cy="896112"/>
          </a:xfrm>
          <a:prstGeom prst="roundRect">
            <a:avLst>
              <a:gd name="adj" fmla="val 12245"/>
            </a:avLst>
          </a:prstGeom>
          <a:solidFill>
            <a:schemeClr val="accent4"/>
          </a:solidFill>
          <a:ln/>
        </p:spPr>
      </p:sp>
      <p:pic>
        <p:nvPicPr>
          <p:cNvPr id="44" name="Image 12" descr="Reasoning &amp; ML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3666744"/>
            <a:ext cx="347472" cy="347472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1188720" y="3392424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&amp; ML</a:t>
            </a:r>
            <a:endParaRPr lang="en-US" sz="1400" dirty="0"/>
          </a:p>
        </p:txBody>
      </p:sp>
      <p:sp>
        <p:nvSpPr>
          <p:cNvPr id="46" name="Shape 31"/>
          <p:cNvSpPr/>
          <p:nvPr/>
        </p:nvSpPr>
        <p:spPr>
          <a:xfrm>
            <a:off x="2670048" y="3474720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47" name="Image 13" descr="Z3 SMT solver log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79776" y="3675888"/>
            <a:ext cx="329184" cy="329184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3182112" y="3474720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Z3 SMT solver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three-valued proofs</a:t>
            </a:r>
            <a:endParaRPr lang="en-US" sz="1300" dirty="0"/>
          </a:p>
        </p:txBody>
      </p:sp>
      <p:sp>
        <p:nvSpPr>
          <p:cNvPr id="49" name="Shape 33"/>
          <p:cNvSpPr/>
          <p:nvPr/>
        </p:nvSpPr>
        <p:spPr>
          <a:xfrm>
            <a:off x="4464101" y="3474720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50" name="Image 14" descr="z3.Optimize log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3829" y="3675888"/>
            <a:ext cx="329184" cy="329184"/>
          </a:xfrm>
          <a:prstGeom prst="rect">
            <a:avLst/>
          </a:prstGeom>
        </p:spPr>
      </p:pic>
      <p:sp>
        <p:nvSpPr>
          <p:cNvPr id="51" name="Text 34"/>
          <p:cNvSpPr txBox="1"/>
          <p:nvPr/>
        </p:nvSpPr>
        <p:spPr>
          <a:xfrm>
            <a:off x="4976165" y="3474720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z3.Optimize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fewest docs to unlock</a:t>
            </a:r>
            <a:endParaRPr lang="en-US" sz="1300" dirty="0"/>
          </a:p>
        </p:txBody>
      </p:sp>
      <p:sp>
        <p:nvSpPr>
          <p:cNvPr id="52" name="Shape 35"/>
          <p:cNvSpPr/>
          <p:nvPr/>
        </p:nvSpPr>
        <p:spPr>
          <a:xfrm>
            <a:off x="6258154" y="3474720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53" name="Image 15" descr="Name matcher log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7882" y="3675888"/>
            <a:ext cx="329184" cy="329184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6770218" y="3474720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Name matcher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fuzzy + phonetic</a:t>
            </a:r>
            <a:endParaRPr lang="en-US" sz="1300" dirty="0"/>
          </a:p>
        </p:txBody>
      </p:sp>
      <p:sp>
        <p:nvSpPr>
          <p:cNvPr id="55" name="Shape 37"/>
          <p:cNvSpPr/>
          <p:nvPr/>
        </p:nvSpPr>
        <p:spPr>
          <a:xfrm>
            <a:off x="8052206" y="3474720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56" name="Image 16" descr="Exam forecaster log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61934" y="3675888"/>
            <a:ext cx="329184" cy="329184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8564270" y="3474720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Exam forecaster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circular statistics</a:t>
            </a:r>
            <a:endParaRPr lang="en-US" sz="1300" dirty="0"/>
          </a:p>
        </p:txBody>
      </p:sp>
      <p:sp>
        <p:nvSpPr>
          <p:cNvPr id="58" name="Shape 39"/>
          <p:cNvSpPr/>
          <p:nvPr/>
        </p:nvSpPr>
        <p:spPr>
          <a:xfrm>
            <a:off x="9846259" y="3474720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59" name="Image 17" descr="Claude logo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55987" y="3675888"/>
            <a:ext cx="329184" cy="329184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10358323" y="3474720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Claude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optional: cited answers</a:t>
            </a:r>
            <a:endParaRPr lang="en-US" sz="1300" dirty="0"/>
          </a:p>
        </p:txBody>
      </p:sp>
      <p:sp>
        <p:nvSpPr>
          <p:cNvPr id="61" name="Shape 41"/>
          <p:cNvSpPr/>
          <p:nvPr/>
        </p:nvSpPr>
        <p:spPr>
          <a:xfrm>
            <a:off x="548640" y="4379976"/>
            <a:ext cx="11091672" cy="896112"/>
          </a:xfrm>
          <a:prstGeom prst="roundRect">
            <a:avLst>
              <a:gd name="adj" fmla="val 12245"/>
            </a:avLst>
          </a:prstGeom>
          <a:solidFill>
            <a:schemeClr val="accent2">
              <a:alpha val="14000"/>
            </a:schemeClr>
          </a:solidFill>
          <a:ln/>
        </p:spPr>
      </p:sp>
      <p:sp>
        <p:nvSpPr>
          <p:cNvPr id="62" name="Shape 42"/>
          <p:cNvSpPr/>
          <p:nvPr/>
        </p:nvSpPr>
        <p:spPr>
          <a:xfrm>
            <a:off x="548640" y="4379976"/>
            <a:ext cx="2011680" cy="896112"/>
          </a:xfrm>
          <a:prstGeom prst="roundRect">
            <a:avLst>
              <a:gd name="adj" fmla="val 12245"/>
            </a:avLst>
          </a:prstGeom>
          <a:solidFill>
            <a:schemeClr val="accent2"/>
          </a:solidFill>
          <a:ln/>
        </p:spPr>
      </p:sp>
      <p:pic>
        <p:nvPicPr>
          <p:cNvPr id="63" name="Image 18" descr="Web layer icon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1520" y="4654296"/>
            <a:ext cx="347472" cy="347472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1188720" y="4379976"/>
            <a:ext cx="1325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layer</a:t>
            </a:r>
            <a:endParaRPr lang="en-US" sz="1400" dirty="0"/>
          </a:p>
        </p:txBody>
      </p:sp>
      <p:sp>
        <p:nvSpPr>
          <p:cNvPr id="65" name="Shape 44"/>
          <p:cNvSpPr/>
          <p:nvPr/>
        </p:nvSpPr>
        <p:spPr>
          <a:xfrm>
            <a:off x="2670048" y="4462272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66" name="Image 19" descr="TinyFish Agent logo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79776" y="4663440"/>
            <a:ext cx="329184" cy="329184"/>
          </a:xfrm>
          <a:prstGeom prst="rect">
            <a:avLst/>
          </a:prstGeom>
        </p:spPr>
      </p:pic>
      <p:sp>
        <p:nvSpPr>
          <p:cNvPr id="67" name="Text 45"/>
          <p:cNvSpPr txBox="1"/>
          <p:nvPr/>
        </p:nvSpPr>
        <p:spPr>
          <a:xfrm>
            <a:off x="3182112" y="4462272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TinyFish Agent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run-sse, schemas</a:t>
            </a:r>
            <a:endParaRPr lang="en-US" sz="1300" dirty="0"/>
          </a:p>
        </p:txBody>
      </p:sp>
      <p:sp>
        <p:nvSpPr>
          <p:cNvPr id="68" name="Shape 46"/>
          <p:cNvSpPr/>
          <p:nvPr/>
        </p:nvSpPr>
        <p:spPr>
          <a:xfrm>
            <a:off x="4464101" y="4462272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69" name="Image 20" descr="TinyFish Browser logo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573829" y="4663440"/>
            <a:ext cx="329184" cy="329184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4976165" y="4462272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TinyFish Browser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CDP + Playwright</a:t>
            </a:r>
            <a:endParaRPr lang="en-US" sz="1300" dirty="0"/>
          </a:p>
        </p:txBody>
      </p:sp>
      <p:sp>
        <p:nvSpPr>
          <p:cNvPr id="71" name="Shape 48"/>
          <p:cNvSpPr/>
          <p:nvPr/>
        </p:nvSpPr>
        <p:spPr>
          <a:xfrm>
            <a:off x="6258154" y="4462272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72" name="Image 21" descr="Fetch + Search logo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7882" y="4663440"/>
            <a:ext cx="329184" cy="329184"/>
          </a:xfrm>
          <a:prstGeom prst="rect">
            <a:avLst/>
          </a:prstGeom>
        </p:spPr>
      </p:pic>
      <p:sp>
        <p:nvSpPr>
          <p:cNvPr id="73" name="Text 49"/>
          <p:cNvSpPr txBox="1"/>
          <p:nvPr/>
        </p:nvSpPr>
        <p:spPr>
          <a:xfrm>
            <a:off x="6770218" y="4462272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Fetch + Search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free public reads</a:t>
            </a:r>
            <a:endParaRPr lang="en-US" sz="1300" dirty="0"/>
          </a:p>
        </p:txBody>
      </p:sp>
      <p:sp>
        <p:nvSpPr>
          <p:cNvPr id="74" name="Shape 50"/>
          <p:cNvSpPr/>
          <p:nvPr/>
        </p:nvSpPr>
        <p:spPr>
          <a:xfrm>
            <a:off x="8052206" y="4462272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75" name="Image 22" descr="Monitor logo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61934" y="4663440"/>
            <a:ext cx="329184" cy="329184"/>
          </a:xfrm>
          <a:prstGeom prst="rect">
            <a:avLst/>
          </a:prstGeom>
        </p:spPr>
      </p:pic>
      <p:sp>
        <p:nvSpPr>
          <p:cNvPr id="76" name="Text 51"/>
          <p:cNvSpPr txBox="1"/>
          <p:nvPr/>
        </p:nvSpPr>
        <p:spPr>
          <a:xfrm>
            <a:off x="8564270" y="4462272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Monitor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+ Research, cited</a:t>
            </a:r>
            <a:endParaRPr lang="en-US" sz="1300" dirty="0"/>
          </a:p>
        </p:txBody>
      </p:sp>
      <p:sp>
        <p:nvSpPr>
          <p:cNvPr id="77" name="Shape 52"/>
          <p:cNvSpPr/>
          <p:nvPr/>
        </p:nvSpPr>
        <p:spPr>
          <a:xfrm>
            <a:off x="9846259" y="4462272"/>
            <a:ext cx="1702613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78" name="Image 23" descr="India exit proxy logo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55987" y="4663440"/>
            <a:ext cx="329184" cy="329184"/>
          </a:xfrm>
          <a:prstGeom prst="rect">
            <a:avLst/>
          </a:prstGeom>
        </p:spPr>
      </p:pic>
      <p:sp>
        <p:nvSpPr>
          <p:cNvPr id="79" name="Text 53"/>
          <p:cNvSpPr txBox="1"/>
          <p:nvPr/>
        </p:nvSpPr>
        <p:spPr>
          <a:xfrm>
            <a:off x="10358323" y="4462272"/>
            <a:ext cx="11356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India exit proxy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for blocked portals</a:t>
            </a:r>
            <a:endParaRPr lang="en-US" sz="1300" dirty="0"/>
          </a:p>
        </p:txBody>
      </p:sp>
      <p:sp>
        <p:nvSpPr>
          <p:cNvPr id="80" name="Shape 54"/>
          <p:cNvSpPr/>
          <p:nvPr/>
        </p:nvSpPr>
        <p:spPr>
          <a:xfrm>
            <a:off x="548640" y="5413248"/>
            <a:ext cx="11091672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81" name="Text 55"/>
          <p:cNvSpPr txBox="1"/>
          <p:nvPr/>
        </p:nvSpPr>
        <p:spPr>
          <a:xfrm>
            <a:off x="777240" y="541324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QUALITY</a:t>
            </a:r>
            <a:endParaRPr lang="en-US" sz="1200" dirty="0"/>
          </a:p>
        </p:txBody>
      </p:sp>
      <p:pic>
        <p:nvPicPr>
          <p:cNvPr id="8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65960" y="5605272"/>
            <a:ext cx="274320" cy="274320"/>
          </a:xfrm>
          <a:prstGeom prst="rect">
            <a:avLst/>
          </a:prstGeom>
        </p:spPr>
      </p:pic>
      <p:sp>
        <p:nvSpPr>
          <p:cNvPr id="83" name="Text 56"/>
          <p:cNvSpPr txBox="1"/>
          <p:nvPr/>
        </p:nvSpPr>
        <p:spPr>
          <a:xfrm>
            <a:off x="2313432" y="54132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pytest · 103 offline tests</a:t>
            </a:r>
            <a:endParaRPr lang="en-US" sz="1100" dirty="0"/>
          </a:p>
        </p:txBody>
      </p:sp>
      <p:pic>
        <p:nvPicPr>
          <p:cNvPr id="84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04488" y="5605272"/>
            <a:ext cx="274320" cy="274320"/>
          </a:xfrm>
          <a:prstGeom prst="rect">
            <a:avLst/>
          </a:prstGeom>
        </p:spPr>
      </p:pic>
      <p:sp>
        <p:nvSpPr>
          <p:cNvPr id="85" name="Text 57"/>
          <p:cNvSpPr txBox="1"/>
          <p:nvPr/>
        </p:nvSpPr>
        <p:spPr>
          <a:xfrm>
            <a:off x="4251960" y="54132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Frontend tests</a:t>
            </a:r>
            <a:endParaRPr lang="en-US" sz="1100" dirty="0"/>
          </a:p>
        </p:txBody>
      </p:sp>
      <p:pic>
        <p:nvPicPr>
          <p:cNvPr id="86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843016" y="5605272"/>
            <a:ext cx="274320" cy="274320"/>
          </a:xfrm>
          <a:prstGeom prst="rect">
            <a:avLst/>
          </a:prstGeom>
        </p:spPr>
      </p:pic>
      <p:sp>
        <p:nvSpPr>
          <p:cNvPr id="87" name="Text 58"/>
          <p:cNvSpPr txBox="1"/>
          <p:nvPr/>
        </p:nvSpPr>
        <p:spPr>
          <a:xfrm>
            <a:off x="6190488" y="54132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Live adapter qualification</a:t>
            </a:r>
            <a:endParaRPr lang="en-US" sz="1100" dirty="0"/>
          </a:p>
        </p:txBody>
      </p:sp>
      <p:pic>
        <p:nvPicPr>
          <p:cNvPr id="88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81544" y="5605272"/>
            <a:ext cx="274320" cy="274320"/>
          </a:xfrm>
          <a:prstGeom prst="rect">
            <a:avLst/>
          </a:prstGeom>
        </p:spPr>
      </p:pic>
      <p:sp>
        <p:nvSpPr>
          <p:cNvPr id="89" name="Text 59"/>
          <p:cNvSpPr txBox="1"/>
          <p:nvPr/>
        </p:nvSpPr>
        <p:spPr>
          <a:xfrm>
            <a:off x="8129016" y="54132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Recorded replay offline</a:t>
            </a:r>
            <a:endParaRPr lang="en-US" sz="1100" dirty="0"/>
          </a:p>
        </p:txBody>
      </p:sp>
      <p:pic>
        <p:nvPicPr>
          <p:cNvPr id="9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720072" y="5605272"/>
            <a:ext cx="274320" cy="274320"/>
          </a:xfrm>
          <a:prstGeom prst="rect">
            <a:avLst/>
          </a:prstGeom>
        </p:spPr>
      </p:pic>
      <p:sp>
        <p:nvSpPr>
          <p:cNvPr id="91" name="Text 60"/>
          <p:cNvSpPr txBox="1"/>
          <p:nvPr/>
        </p:nvSpPr>
        <p:spPr>
          <a:xfrm>
            <a:off x="10067544" y="541324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Error boundary + self-heal</a:t>
            </a:r>
            <a:endParaRPr lang="en-US" sz="1100" dirty="0"/>
          </a:p>
        </p:txBody>
      </p:sp>
      <p:sp>
        <p:nvSpPr>
          <p:cNvPr id="92" name="Text 61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Why this stack: </a:t>
            </a:r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rules are data, a solver proves each answer, every web call is logged — and the whole app runs offline on recorded real runs.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04  ·  SYSTEM DESIGN &amp;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rules registry, one job ledger, one TinyFish harness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240280" cy="3886200"/>
          </a:xfrm>
          <a:prstGeom prst="roundRect">
            <a:avLst>
              <a:gd name="adj" fmla="val 5714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5" name="icon FaMobileAlt"/>
          <p:cNvSpPr/>
          <p:nvPr/>
        </p:nvSpPr>
        <p:spPr>
          <a:xfrm>
            <a:off x="676656" y="146304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Mobile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411" y="1561795"/>
            <a:ext cx="168250" cy="1682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4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5"/>
                </a:solidFill>
              </a:rPr>
              <a:t>CLIENT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36392" y="1371600"/>
            <a:ext cx="2377440" cy="3886200"/>
          </a:xfrm>
          <a:prstGeom prst="roundRect">
            <a:avLst>
              <a:gd name="adj" fmla="val 538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9" name="icon FaServer"/>
          <p:cNvSpPr/>
          <p:nvPr/>
        </p:nvSpPr>
        <p:spPr>
          <a:xfrm>
            <a:off x="3264408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Serv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163" y="1561795"/>
            <a:ext cx="168250" cy="1682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03320" y="1463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API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861304" y="1371600"/>
            <a:ext cx="2697480" cy="3886200"/>
          </a:xfrm>
          <a:prstGeom prst="roundRect">
            <a:avLst>
              <a:gd name="adj" fmla="val 4746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3" name="icon FaCogs"/>
          <p:cNvSpPr/>
          <p:nvPr/>
        </p:nvSpPr>
        <p:spPr>
          <a:xfrm>
            <a:off x="5989320" y="14630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mage 2" descr="Cog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075" y="1561795"/>
            <a:ext cx="168250" cy="16825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28232" y="14630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SERVICES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906256" y="1371600"/>
            <a:ext cx="2734056" cy="3886200"/>
          </a:xfrm>
          <a:prstGeom prst="roundRect">
            <a:avLst>
              <a:gd name="adj" fmla="val 468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icon FaGlobe"/>
          <p:cNvSpPr/>
          <p:nvPr/>
        </p:nvSpPr>
        <p:spPr>
          <a:xfrm>
            <a:off x="9034272" y="14630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3" descr="Glob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27" y="1561795"/>
            <a:ext cx="168250" cy="16825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473184" y="1463040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WEB LAYER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58368" y="1965960"/>
            <a:ext cx="2020824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10312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15568" y="205740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Citizen or CSC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786384" y="2441448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Phone or desktop, Hindi or English, voice input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1568196" y="3273552"/>
            <a:ext cx="201168" cy="164592"/>
          </a:xfrm>
          <a:prstGeom prst="downArrow">
            <a:avLst/>
          </a:prstGeom>
          <a:solidFill>
            <a:srgbClr val="6B7F7B"/>
          </a:solidFill>
          <a:ln/>
        </p:spPr>
      </p:sp>
      <p:sp>
        <p:nvSpPr>
          <p:cNvPr id="25" name="Shape 18"/>
          <p:cNvSpPr/>
          <p:nvPr/>
        </p:nvSpPr>
        <p:spPr>
          <a:xfrm>
            <a:off x="658368" y="3474720"/>
            <a:ext cx="2020824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61188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115568" y="356616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React PWA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786384" y="3950208"/>
            <a:ext cx="1783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Workspace, cases and journal stay in this browser; lazy screens, error boundary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3246120" y="1965960"/>
            <a:ext cx="2157984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2103120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3703320" y="205740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FastAPI</a:t>
            </a:r>
            <a:endParaRPr lang="en-US" sz="1250" dirty="0"/>
          </a:p>
        </p:txBody>
      </p:sp>
      <p:sp>
        <p:nvSpPr>
          <p:cNvPr id="32" name="Text 23"/>
          <p:cNvSpPr txBox="1"/>
          <p:nvPr/>
        </p:nvSpPr>
        <p:spPr>
          <a:xfrm>
            <a:off x="3374136" y="2441448"/>
            <a:ext cx="19202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My plan · Life update · Paperwork · Wapsi · Ask · Under the hood; private responses no-store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3246120" y="3703320"/>
            <a:ext cx="2157984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4136" y="3840480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3703320" y="379476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Job ledger + SSE</a:t>
            </a:r>
            <a:endParaRPr lang="en-US" sz="1250" dirty="0"/>
          </a:p>
        </p:txBody>
      </p:sp>
      <p:sp>
        <p:nvSpPr>
          <p:cNvPr id="36" name="Text 26"/>
          <p:cNvSpPr txBox="1"/>
          <p:nvPr/>
        </p:nvSpPr>
        <p:spPr>
          <a:xfrm>
            <a:off x="3374136" y="4178808"/>
            <a:ext cx="1920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Idempotent starts, cancel, live progress; “uncertain” after a restart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5971032" y="1965960"/>
            <a:ext cx="2478024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9048" y="2103120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428232" y="2057400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Rules registry → Z3</a:t>
            </a:r>
            <a:endParaRPr lang="en-US" sz="1250" dirty="0"/>
          </a:p>
        </p:txBody>
      </p:sp>
      <p:sp>
        <p:nvSpPr>
          <p:cNvPr id="40" name="Text 29"/>
          <p:cNvSpPr txBox="1"/>
          <p:nvPr/>
        </p:nvSpPr>
        <p:spPr>
          <a:xfrm>
            <a:off x="6099048" y="244144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One rules_version for plan, cases, Discover, Ask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5971032" y="3044952"/>
            <a:ext cx="2478024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9048" y="3182112"/>
            <a:ext cx="256032" cy="25603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6428232" y="313639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Recovery cases</a:t>
            </a:r>
            <a:endParaRPr lang="en-US" sz="1250" dirty="0"/>
          </a:p>
        </p:txBody>
      </p:sp>
      <p:sp>
        <p:nvSpPr>
          <p:cNvPr id="44" name="Text 32"/>
          <p:cNvSpPr txBox="1"/>
          <p:nvPr/>
        </p:nvSpPr>
        <p:spPr>
          <a:xfrm>
            <a:off x="6099048" y="35204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Bound to case, holder, route; strict outcomes</a:t>
            </a:r>
            <a:endParaRPr lang="en-US" sz="1050" dirty="0"/>
          </a:p>
        </p:txBody>
      </p:sp>
      <p:sp>
        <p:nvSpPr>
          <p:cNvPr id="45" name="Shape 33"/>
          <p:cNvSpPr/>
          <p:nvPr/>
        </p:nvSpPr>
        <p:spPr>
          <a:xfrm>
            <a:off x="5971032" y="4123944"/>
            <a:ext cx="2478024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9048" y="4261104"/>
            <a:ext cx="256032" cy="25603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6428232" y="4215384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Updates + Discover</a:t>
            </a:r>
            <a:endParaRPr lang="en-US" sz="1250" dirty="0"/>
          </a:p>
        </p:txBody>
      </p:sp>
      <p:sp>
        <p:nvSpPr>
          <p:cNvPr id="48" name="Text 35"/>
          <p:cNvSpPr txBox="1"/>
          <p:nvPr/>
        </p:nvSpPr>
        <p:spPr>
          <a:xfrm>
            <a:off x="6099048" y="459943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Notice boards, deadlines, 1,135 scheme pages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9015984" y="1965960"/>
            <a:ext cx="251460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0" y="2103120"/>
            <a:ext cx="256032" cy="25603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9473184" y="20574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TinyFish harness</a:t>
            </a:r>
            <a:endParaRPr lang="en-US" sz="1250" dirty="0"/>
          </a:p>
        </p:txBody>
      </p:sp>
      <p:sp>
        <p:nvSpPr>
          <p:cNvPr id="52" name="Text 38"/>
          <p:cNvSpPr txBox="1"/>
          <p:nvPr/>
        </p:nvSpPr>
        <p:spPr>
          <a:xfrm>
            <a:off x="9144000" y="2441448"/>
            <a:ext cx="2276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Plan → run → verify → self-heal → hand-off; every call logged, public reads replayable</a:t>
            </a:r>
            <a:endParaRPr lang="en-US" sz="1050" dirty="0"/>
          </a:p>
        </p:txBody>
      </p:sp>
      <p:sp>
        <p:nvSpPr>
          <p:cNvPr id="53" name="Shape 39"/>
          <p:cNvSpPr/>
          <p:nvPr/>
        </p:nvSpPr>
        <p:spPr>
          <a:xfrm>
            <a:off x="10172700" y="3456432"/>
            <a:ext cx="201168" cy="164592"/>
          </a:xfrm>
          <a:prstGeom prst="downArrow">
            <a:avLst/>
          </a:prstGeom>
          <a:solidFill>
            <a:srgbClr val="6B7F7B"/>
          </a:solidFill>
          <a:ln/>
        </p:spPr>
      </p:sp>
      <p:sp>
        <p:nvSpPr>
          <p:cNvPr id="54" name="Shape 40"/>
          <p:cNvSpPr/>
          <p:nvPr/>
        </p:nvSpPr>
        <p:spPr>
          <a:xfrm>
            <a:off x="9015984" y="3657600"/>
            <a:ext cx="2514600" cy="1463040"/>
          </a:xfrm>
          <a:prstGeom prst="roundRect">
            <a:avLst>
              <a:gd name="adj" fmla="val 7500"/>
            </a:avLst>
          </a:prstGeom>
          <a:solidFill>
            <a:srgbClr val="FFF8EE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0" y="3794760"/>
            <a:ext cx="256032" cy="256032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9473184" y="37490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Official web</a:t>
            </a:r>
            <a:endParaRPr lang="en-US" sz="1250" dirty="0"/>
          </a:p>
        </p:txBody>
      </p:sp>
      <p:sp>
        <p:nvSpPr>
          <p:cNvPr id="57" name="Text 42"/>
          <p:cNvSpPr txBox="1"/>
          <p:nvPr/>
        </p:nvSpPr>
        <p:spPr>
          <a:xfrm>
            <a:off x="9144000" y="4133088"/>
            <a:ext cx="22768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.gov.in · myScheme · NSP · LIC · Tata AIA · notice boards (India exit IP)</a:t>
            </a:r>
            <a:endParaRPr lang="en-US" sz="1050" dirty="0"/>
          </a:p>
        </p:txBody>
      </p:sp>
      <p:sp>
        <p:nvSpPr>
          <p:cNvPr id="58" name="Shape 43"/>
          <p:cNvSpPr/>
          <p:nvPr/>
        </p:nvSpPr>
        <p:spPr>
          <a:xfrm>
            <a:off x="2834640" y="2560320"/>
            <a:ext cx="237744" cy="384048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59" name="Shape 44"/>
          <p:cNvSpPr/>
          <p:nvPr/>
        </p:nvSpPr>
        <p:spPr>
          <a:xfrm>
            <a:off x="5559552" y="2560320"/>
            <a:ext cx="237744" cy="38404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60" name="Shape 45"/>
          <p:cNvSpPr/>
          <p:nvPr/>
        </p:nvSpPr>
        <p:spPr>
          <a:xfrm>
            <a:off x="5559552" y="4206240"/>
            <a:ext cx="237744" cy="384048"/>
          </a:xfrm>
          <a:prstGeom prst="chevron">
            <a:avLst/>
          </a:prstGeom>
          <a:solidFill>
            <a:schemeClr val="accent1"/>
          </a:solidFill>
          <a:ln/>
        </p:spPr>
      </p:sp>
      <p:sp>
        <p:nvSpPr>
          <p:cNvPr id="61" name="Shape 46"/>
          <p:cNvSpPr/>
          <p:nvPr/>
        </p:nvSpPr>
        <p:spPr>
          <a:xfrm>
            <a:off x="8604504" y="2514600"/>
            <a:ext cx="237744" cy="384048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62" name="Shape 47"/>
          <p:cNvSpPr/>
          <p:nvPr/>
        </p:nvSpPr>
        <p:spPr>
          <a:xfrm>
            <a:off x="548640" y="5413248"/>
            <a:ext cx="11091672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63" name="Image 13" descr="Database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5641848"/>
            <a:ext cx="310896" cy="310896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1234440" y="54132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SQLite (WAL)  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TinyFish call log  ·  job ledger  ·  24-hour helper links behind a hashed token  ·  reviewed rule changes  ·  no IDs, passwords or OTPs stored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 ·  TINYFISH INTEGRATION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TinyFish products, behind a harness that never guesses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34640" y="1929384"/>
            <a:ext cx="1257300" cy="1133856"/>
          </a:xfrm>
          <a:prstGeom prst="line">
            <a:avLst/>
          </a:prstGeom>
          <a:noFill/>
          <a:ln w="19050">
            <a:solidFill>
              <a:srgbClr val="9CC9C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834640" y="3063240"/>
            <a:ext cx="1257300" cy="0"/>
          </a:xfrm>
          <a:prstGeom prst="line">
            <a:avLst/>
          </a:prstGeom>
          <a:noFill/>
          <a:ln w="19050">
            <a:solidFill>
              <a:srgbClr val="9CC9C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2834640" y="3063240"/>
            <a:ext cx="1257300" cy="1133856"/>
          </a:xfrm>
          <a:prstGeom prst="line">
            <a:avLst/>
          </a:prstGeom>
          <a:noFill/>
          <a:ln w="19050">
            <a:solidFill>
              <a:srgbClr val="9CC9C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4091940" y="1929384"/>
            <a:ext cx="1257300" cy="1133856"/>
          </a:xfrm>
          <a:prstGeom prst="line">
            <a:avLst/>
          </a:prstGeom>
          <a:noFill/>
          <a:ln w="19050">
            <a:solidFill>
              <a:srgbClr val="9CC9C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4091940" y="3063240"/>
            <a:ext cx="1257300" cy="0"/>
          </a:xfrm>
          <a:prstGeom prst="line">
            <a:avLst/>
          </a:prstGeom>
          <a:noFill/>
          <a:ln w="19050">
            <a:solidFill>
              <a:srgbClr val="9CC9C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091940" y="3063240"/>
            <a:ext cx="1257300" cy="1133856"/>
          </a:xfrm>
          <a:prstGeom prst="line">
            <a:avLst/>
          </a:prstGeom>
          <a:noFill/>
          <a:ln w="19050">
            <a:solidFill>
              <a:srgbClr val="9CC9C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067812" y="2039112"/>
            <a:ext cx="2048256" cy="20482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9CC9C2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268980" y="2240280"/>
            <a:ext cx="1645920" cy="1645920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12" name="Image 0" descr="TinyFis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9060" y="2404872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314700" y="278892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TinyFish</a:t>
            </a:r>
            <a:endParaRPr lang="en-US" sz="13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harness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every call logged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1417320"/>
            <a:ext cx="2286000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5" name="icon FaRobot"/>
          <p:cNvSpPr/>
          <p:nvPr/>
        </p:nvSpPr>
        <p:spPr>
          <a:xfrm>
            <a:off x="667512" y="1536192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1" descr="Robo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05" y="1639885"/>
            <a:ext cx="176662" cy="17666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43000" y="1536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Agent · run-sse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67512" y="1965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Tata AIA check · second opinion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67512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5 steps · 66 s · ≈ $0.08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48640" y="2551176"/>
            <a:ext cx="2286000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1" name="icon FaChrome"/>
          <p:cNvSpPr/>
          <p:nvPr/>
        </p:nvSpPr>
        <p:spPr>
          <a:xfrm>
            <a:off x="667512" y="267004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2" descr="Chrom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05" y="2773741"/>
            <a:ext cx="176662" cy="17666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43000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Browser · CDP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667512" y="3099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LIC playbook · myScheme pages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667512" y="3310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LIC in 38.6 s · ≈ $0.002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3685032"/>
            <a:ext cx="2286000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7" name="icon FaFileAlt"/>
          <p:cNvSpPr/>
          <p:nvPr/>
        </p:nvSpPr>
        <p:spPr>
          <a:xfrm>
            <a:off x="667512" y="3803904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mage 3" descr="File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05" y="3907597"/>
            <a:ext cx="176662" cy="17666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143000" y="38039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Fetch</a:t>
            </a:r>
            <a:endParaRPr lang="en-US" sz="1250" dirty="0"/>
          </a:p>
        </p:txBody>
      </p:sp>
      <p:sp>
        <p:nvSpPr>
          <p:cNvPr id="30" name="Text 24"/>
          <p:cNvSpPr txBox="1"/>
          <p:nvPr/>
        </p:nvSpPr>
        <p:spPr>
          <a:xfrm>
            <a:off x="667512" y="42336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Updates scan · re-check · deadlines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667512" y="44439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all boards in one call · free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5349240" y="1417320"/>
            <a:ext cx="2286000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33" name="icon FaSearch"/>
          <p:cNvSpPr/>
          <p:nvPr/>
        </p:nvSpPr>
        <p:spPr>
          <a:xfrm>
            <a:off x="5468112" y="15361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mage 4" descr="Search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805" y="1639885"/>
            <a:ext cx="176662" cy="17666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943600" y="15361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Search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5468112" y="1965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Discover · paperwork · new schemes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5468112" y="21762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≈ 1 s · free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5349240" y="2551176"/>
            <a:ext cx="2286000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39" name="icon FaBell"/>
          <p:cNvSpPr/>
          <p:nvPr/>
        </p:nvSpPr>
        <p:spPr>
          <a:xfrm>
            <a:off x="5468112" y="267004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0" name="Image 5" descr="Bel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1805" y="2773741"/>
            <a:ext cx="176662" cy="17666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5943600" y="26700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Monitor</a:t>
            </a:r>
            <a:endParaRPr lang="en-US" sz="1250" dirty="0"/>
          </a:p>
        </p:txBody>
      </p:sp>
      <p:sp>
        <p:nvSpPr>
          <p:cNvPr id="42" name="Text 34"/>
          <p:cNvSpPr txBox="1"/>
          <p:nvPr/>
        </p:nvSpPr>
        <p:spPr>
          <a:xfrm>
            <a:off x="5468112" y="30998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Always-on board watching</a:t>
            </a:r>
            <a:endParaRPr lang="en-US" sz="1050" dirty="0"/>
          </a:p>
        </p:txBody>
      </p:sp>
      <p:sp>
        <p:nvSpPr>
          <p:cNvPr id="43" name="Text 35"/>
          <p:cNvSpPr txBox="1"/>
          <p:nvPr/>
        </p:nvSpPr>
        <p:spPr>
          <a:xfrm>
            <a:off x="5468112" y="33101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3"/>
                </a:solidFill>
              </a:rPr>
              <a:t>private webhook · operator-enabled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5349240" y="3685032"/>
            <a:ext cx="2286000" cy="1024128"/>
          </a:xfrm>
          <a:prstGeom prst="roundRect">
            <a:avLst>
              <a:gd name="adj" fmla="val 1071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45" name="icon FaBook"/>
          <p:cNvSpPr/>
          <p:nvPr/>
        </p:nvSpPr>
        <p:spPr>
          <a:xfrm>
            <a:off x="5468112" y="38039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6" name="Image 6" descr="Boo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1805" y="3907597"/>
            <a:ext cx="176662" cy="17666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5943600" y="38039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Research</a:t>
            </a:r>
            <a:endParaRPr lang="en-US" sz="1250" dirty="0"/>
          </a:p>
        </p:txBody>
      </p:sp>
      <p:sp>
        <p:nvSpPr>
          <p:cNvPr id="48" name="Text 39"/>
          <p:cNvSpPr txBox="1"/>
          <p:nvPr/>
        </p:nvSpPr>
        <p:spPr>
          <a:xfrm>
            <a:off x="5468112" y="42336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Ask → live research, cited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5468112" y="444398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cited .gov.in answers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7863840" y="1417320"/>
            <a:ext cx="3776472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51" name="Text 42"/>
          <p:cNvSpPr txBox="1"/>
          <p:nvPr/>
        </p:nvSpPr>
        <p:spPr>
          <a:xfrm>
            <a:off x="8092440" y="15544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HARNESS — EVERY CALL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8275320" y="2103120"/>
            <a:ext cx="0" cy="2240280"/>
          </a:xfrm>
          <a:prstGeom prst="line">
            <a:avLst/>
          </a:prstGeom>
          <a:noFill/>
          <a:ln w="25400">
            <a:solidFill>
              <a:srgbClr val="B9D6D1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8092440" y="1929384"/>
            <a:ext cx="365760" cy="365760"/>
          </a:xfrm>
          <a:prstGeom prst="ellipse">
            <a:avLst/>
          </a:prstGeom>
          <a:solidFill>
            <a:schemeClr val="accent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809244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55" name="Text 46"/>
          <p:cNvSpPr txBox="1"/>
          <p:nvPr/>
        </p:nvSpPr>
        <p:spPr>
          <a:xfrm>
            <a:off x="8577072" y="190195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Plan  </a:t>
            </a:r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pick the qualified playbook or agent</a:t>
            </a:r>
            <a:endParaRPr lang="en-US" sz="1150" dirty="0"/>
          </a:p>
        </p:txBody>
      </p:sp>
      <p:sp>
        <p:nvSpPr>
          <p:cNvPr id="56" name="Shape 47"/>
          <p:cNvSpPr/>
          <p:nvPr/>
        </p:nvSpPr>
        <p:spPr>
          <a:xfrm>
            <a:off x="8092440" y="2478024"/>
            <a:ext cx="365760" cy="365760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48"/>
          <p:cNvSpPr txBox="1"/>
          <p:nvPr/>
        </p:nvSpPr>
        <p:spPr>
          <a:xfrm>
            <a:off x="8092440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577072" y="245059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Run  </a:t>
            </a:r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India exit IP, hard caps 180 s / 30 steps</a:t>
            </a:r>
            <a:endParaRPr lang="en-US" sz="1150" dirty="0"/>
          </a:p>
        </p:txBody>
      </p:sp>
      <p:sp>
        <p:nvSpPr>
          <p:cNvPr id="59" name="Shape 50"/>
          <p:cNvSpPr/>
          <p:nvPr/>
        </p:nvSpPr>
        <p:spPr>
          <a:xfrm>
            <a:off x="8092440" y="3026664"/>
            <a:ext cx="365760" cy="365760"/>
          </a:xfrm>
          <a:prstGeom prst="ellipse">
            <a:avLst/>
          </a:prstGeom>
          <a:solidFill>
            <a:schemeClr val="accent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809244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8577072" y="299923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Verify  </a:t>
            </a:r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read the portal's own result area</a:t>
            </a:r>
            <a:endParaRPr lang="en-US" sz="1150" dirty="0"/>
          </a:p>
        </p:txBody>
      </p:sp>
      <p:sp>
        <p:nvSpPr>
          <p:cNvPr id="62" name="Shape 53"/>
          <p:cNvSpPr/>
          <p:nvPr/>
        </p:nvSpPr>
        <p:spPr>
          <a:xfrm>
            <a:off x="8092440" y="3575304"/>
            <a:ext cx="365760" cy="365760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8092440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64" name="Text 55"/>
          <p:cNvSpPr txBox="1"/>
          <p:nvPr/>
        </p:nvSpPr>
        <p:spPr>
          <a:xfrm>
            <a:off x="8577072" y="354787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Self-heal  </a:t>
            </a:r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one bounded fallback, only before submit</a:t>
            </a:r>
            <a:endParaRPr lang="en-US" sz="1150" dirty="0"/>
          </a:p>
        </p:txBody>
      </p:sp>
      <p:sp>
        <p:nvSpPr>
          <p:cNvPr id="65" name="Shape 56"/>
          <p:cNvSpPr/>
          <p:nvPr/>
        </p:nvSpPr>
        <p:spPr>
          <a:xfrm>
            <a:off x="8092440" y="4123944"/>
            <a:ext cx="365760" cy="365760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57"/>
          <p:cNvSpPr txBox="1"/>
          <p:nvPr/>
        </p:nvSpPr>
        <p:spPr>
          <a:xfrm>
            <a:off x="80924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67" name="Text 58"/>
          <p:cNvSpPr txBox="1"/>
          <p:nvPr/>
        </p:nvSpPr>
        <p:spPr>
          <a:xfrm>
            <a:off x="8577072" y="409651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Hand-off  </a:t>
            </a:r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OTP / CAPTCHA → citizen on the official site</a:t>
            </a:r>
            <a:endParaRPr lang="en-US" sz="1150" dirty="0"/>
          </a:p>
        </p:txBody>
      </p:sp>
      <p:sp>
        <p:nvSpPr>
          <p:cNvPr id="68" name="Shape 59"/>
          <p:cNvSpPr/>
          <p:nvPr/>
        </p:nvSpPr>
        <p:spPr>
          <a:xfrm>
            <a:off x="548640" y="4892040"/>
            <a:ext cx="11091672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69" name="Text 60"/>
          <p:cNvSpPr txBox="1"/>
          <p:nvPr/>
        </p:nvSpPr>
        <p:spPr>
          <a:xfrm>
            <a:off x="777240" y="50109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STRICT OUTCOMES — EVERY CHECK ENDS IN ONE OF THESE</a:t>
            </a:r>
            <a:endParaRPr lang="en-US" sz="1100" dirty="0"/>
          </a:p>
        </p:txBody>
      </p:sp>
      <p:sp>
        <p:nvSpPr>
          <p:cNvPr id="70" name="Shape 61"/>
          <p:cNvSpPr/>
          <p:nvPr/>
        </p:nvSpPr>
        <p:spPr>
          <a:xfrm>
            <a:off x="777240" y="5349240"/>
            <a:ext cx="1517904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71" name="Shape 62"/>
          <p:cNvSpPr/>
          <p:nvPr/>
        </p:nvSpPr>
        <p:spPr>
          <a:xfrm>
            <a:off x="896112" y="5449824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2" name="Text 63"/>
          <p:cNvSpPr txBox="1"/>
          <p:nvPr/>
        </p:nvSpPr>
        <p:spPr>
          <a:xfrm>
            <a:off x="1051560" y="5349240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Possible record</a:t>
            </a:r>
            <a:endParaRPr lang="en-US" sz="1050" dirty="0"/>
          </a:p>
        </p:txBody>
      </p:sp>
      <p:sp>
        <p:nvSpPr>
          <p:cNvPr id="73" name="Shape 64"/>
          <p:cNvSpPr/>
          <p:nvPr/>
        </p:nvSpPr>
        <p:spPr>
          <a:xfrm>
            <a:off x="2386584" y="5349240"/>
            <a:ext cx="1044245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74" name="Shape 65"/>
          <p:cNvSpPr/>
          <p:nvPr/>
        </p:nvSpPr>
        <p:spPr>
          <a:xfrm>
            <a:off x="2505456" y="5449824"/>
            <a:ext cx="109728" cy="10972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75" name="Text 66"/>
          <p:cNvSpPr txBox="1"/>
          <p:nvPr/>
        </p:nvSpPr>
        <p:spPr>
          <a:xfrm>
            <a:off x="2660904" y="5349240"/>
            <a:ext cx="7242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No match</a:t>
            </a:r>
            <a:endParaRPr lang="en-US" sz="1050" dirty="0"/>
          </a:p>
        </p:txBody>
      </p:sp>
      <p:sp>
        <p:nvSpPr>
          <p:cNvPr id="76" name="Shape 67"/>
          <p:cNvSpPr/>
          <p:nvPr/>
        </p:nvSpPr>
        <p:spPr>
          <a:xfrm>
            <a:off x="3522269" y="5349240"/>
            <a:ext cx="1314907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77" name="Shape 68"/>
          <p:cNvSpPr/>
          <p:nvPr/>
        </p:nvSpPr>
        <p:spPr>
          <a:xfrm>
            <a:off x="3641141" y="5449824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8" name="Text 69"/>
          <p:cNvSpPr txBox="1"/>
          <p:nvPr/>
        </p:nvSpPr>
        <p:spPr>
          <a:xfrm>
            <a:off x="3796589" y="5349240"/>
            <a:ext cx="9948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Citizen step</a:t>
            </a:r>
            <a:endParaRPr lang="en-US" sz="1050" dirty="0"/>
          </a:p>
        </p:txBody>
      </p:sp>
      <p:sp>
        <p:nvSpPr>
          <p:cNvPr id="79" name="Shape 70"/>
          <p:cNvSpPr/>
          <p:nvPr/>
        </p:nvSpPr>
        <p:spPr>
          <a:xfrm>
            <a:off x="4928616" y="5349240"/>
            <a:ext cx="1382573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0" name="Shape 71"/>
          <p:cNvSpPr/>
          <p:nvPr/>
        </p:nvSpPr>
        <p:spPr>
          <a:xfrm>
            <a:off x="5047488" y="5449824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1" name="Text 72"/>
          <p:cNvSpPr txBox="1"/>
          <p:nvPr/>
        </p:nvSpPr>
        <p:spPr>
          <a:xfrm>
            <a:off x="5202936" y="5349240"/>
            <a:ext cx="106253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Missing input</a:t>
            </a:r>
            <a:endParaRPr lang="en-US" sz="1050" dirty="0"/>
          </a:p>
        </p:txBody>
      </p:sp>
      <p:sp>
        <p:nvSpPr>
          <p:cNvPr id="82" name="Shape 73"/>
          <p:cNvSpPr/>
          <p:nvPr/>
        </p:nvSpPr>
        <p:spPr>
          <a:xfrm>
            <a:off x="6402629" y="5349240"/>
            <a:ext cx="1247242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3" name="Shape 74"/>
          <p:cNvSpPr/>
          <p:nvPr/>
        </p:nvSpPr>
        <p:spPr>
          <a:xfrm>
            <a:off x="6521501" y="5449824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4" name="Text 75"/>
          <p:cNvSpPr txBox="1"/>
          <p:nvPr/>
        </p:nvSpPr>
        <p:spPr>
          <a:xfrm>
            <a:off x="6676949" y="5349240"/>
            <a:ext cx="9272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Unavailable</a:t>
            </a:r>
            <a:endParaRPr lang="en-US" sz="1050" dirty="0"/>
          </a:p>
        </p:txBody>
      </p:sp>
      <p:sp>
        <p:nvSpPr>
          <p:cNvPr id="85" name="Shape 76"/>
          <p:cNvSpPr/>
          <p:nvPr/>
        </p:nvSpPr>
        <p:spPr>
          <a:xfrm>
            <a:off x="7741310" y="5349240"/>
            <a:ext cx="908914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6" name="Shape 77"/>
          <p:cNvSpPr/>
          <p:nvPr/>
        </p:nvSpPr>
        <p:spPr>
          <a:xfrm>
            <a:off x="7860182" y="5449824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7" name="Text 78"/>
          <p:cNvSpPr txBox="1"/>
          <p:nvPr/>
        </p:nvSpPr>
        <p:spPr>
          <a:xfrm>
            <a:off x="8015630" y="5349240"/>
            <a:ext cx="588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Failed</a:t>
            </a:r>
            <a:endParaRPr lang="en-US" sz="1050" dirty="0"/>
          </a:p>
        </p:txBody>
      </p:sp>
      <p:sp>
        <p:nvSpPr>
          <p:cNvPr id="88" name="Shape 79"/>
          <p:cNvSpPr/>
          <p:nvPr/>
        </p:nvSpPr>
        <p:spPr>
          <a:xfrm>
            <a:off x="8741664" y="5349240"/>
            <a:ext cx="111191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9" name="Shape 80"/>
          <p:cNvSpPr/>
          <p:nvPr/>
        </p:nvSpPr>
        <p:spPr>
          <a:xfrm>
            <a:off x="8860536" y="5449824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0" name="Text 81"/>
          <p:cNvSpPr txBox="1"/>
          <p:nvPr/>
        </p:nvSpPr>
        <p:spPr>
          <a:xfrm>
            <a:off x="9015984" y="5349240"/>
            <a:ext cx="7918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Uncertain</a:t>
            </a:r>
            <a:endParaRPr lang="en-US" sz="1050" dirty="0"/>
          </a:p>
        </p:txBody>
      </p:sp>
      <p:sp>
        <p:nvSpPr>
          <p:cNvPr id="91" name="Shape 82"/>
          <p:cNvSpPr/>
          <p:nvPr/>
        </p:nvSpPr>
        <p:spPr>
          <a:xfrm>
            <a:off x="9945014" y="5349240"/>
            <a:ext cx="111191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92" name="Shape 83"/>
          <p:cNvSpPr/>
          <p:nvPr/>
        </p:nvSpPr>
        <p:spPr>
          <a:xfrm>
            <a:off x="10063886" y="5449824"/>
            <a:ext cx="109728" cy="109728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3" name="Text 84"/>
          <p:cNvSpPr txBox="1"/>
          <p:nvPr/>
        </p:nvSpPr>
        <p:spPr>
          <a:xfrm>
            <a:off x="10219334" y="5349240"/>
            <a:ext cx="7918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Cancelled</a:t>
            </a:r>
            <a:endParaRPr lang="en-US" sz="1050" dirty="0"/>
          </a:p>
        </p:txBody>
      </p:sp>
      <p:sp>
        <p:nvSpPr>
          <p:cNvPr id="94" name="Text 85"/>
          <p:cNvSpPr txBox="1"/>
          <p:nvPr/>
        </p:nvSpPr>
        <p:spPr>
          <a:xfrm>
            <a:off x="777240" y="57607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CAPTCHA, outages and timeouts never become “no match”. A record is never treated as ownership, and amounts are never summed.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06  ·  RESEARCH &amp; VALIDATION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live government web taught us — and how we prove it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926080"/>
                <a:gridCol w="2971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found live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changed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default network returned proxy_error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TinyFish browser and agent exits from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said “COMPLETED, not found” — it had hit a CAPTCHA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≠ no match; the citizen completes it on the official 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IEPF / MCA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moved behind a login; an uncapped agent ran 83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caps on every run; official-site route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widow pension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text: income “less than ₹1,00,000”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Extractor fixed; Z3 proves our rule matches the live 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5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outputs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found: true alongside “Found 0 unclaimed amounts”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2A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portal-specific reader + a test from the recorded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38928"/>
            <a:ext cx="7315200" cy="1078992"/>
          </a:xfrm>
          <a:prstGeom prst="roundRect">
            <a:avLst>
              <a:gd name="adj" fmla="val 10169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pic>
        <p:nvPicPr>
          <p:cNvPr id="6" name="Image 0" descr="Sourc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3035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5257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Research sources: </a:t>
            </a:r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PIB (Dec 2025, Mar 2026) · MeitY myScheme · Haqdarshak PM-JAY survey · RBI UDGAM · official portal pages read with TinyFish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57332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accent6"/>
                </a:solidFill>
              </a:rPr>
              <a:t>Live tests use only a fictional identity (“Jaagrukdemo Testcase”). They show how portals behaved on the day — not a paid claim.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183880" y="1463040"/>
            <a:ext cx="345643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8412480" y="1600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3000" dirty="0"/>
          </a:p>
        </p:txBody>
      </p:sp>
      <p:sp>
        <p:nvSpPr>
          <p:cNvPr id="11" name="icon FaCheckDouble"/>
          <p:cNvSpPr/>
          <p:nvPr/>
        </p:nvSpPr>
        <p:spPr>
          <a:xfrm>
            <a:off x="1097280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CheckDoub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244" y="1769364"/>
            <a:ext cx="210312" cy="2103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12480" y="21945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backend tests pass offline — recovery, jobs, rules registry, eligibility, life updates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183880" y="3063240"/>
            <a:ext cx="345643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8412480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3000" dirty="0"/>
          </a:p>
        </p:txBody>
      </p:sp>
      <p:sp>
        <p:nvSpPr>
          <p:cNvPr id="16" name="icon FaPlug"/>
          <p:cNvSpPr/>
          <p:nvPr/>
        </p:nvSpPr>
        <p:spPr>
          <a:xfrm>
            <a:off x="1097280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lu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244" y="3369564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412480" y="37947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automated Wapsi adapters live-qualified on 25 Oct 2026 — LIC 38.6 s, Tata AIA 66 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183880" y="4663440"/>
            <a:ext cx="345643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8412480" y="4800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0.979</a:t>
            </a:r>
            <a:endParaRPr lang="en-US" sz="3000" dirty="0"/>
          </a:p>
        </p:txBody>
      </p:sp>
      <p:sp>
        <p:nvSpPr>
          <p:cNvPr id="21" name="icon FaUserCheck"/>
          <p:cNvSpPr/>
          <p:nvPr/>
        </p:nvSpPr>
        <p:spPr>
          <a:xfrm>
            <a:off x="10972800" y="4846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2" name="Image 3" descr="User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6244" y="496976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412480" y="5394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name-matcher F1 on synthetic Indic name pairs; exact matching finds only 14% of true variants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07  ·  IMPACT, BUSINESS MODEL &amp; 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to run, clear to earn from, ready to scale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WHAT A CHECK COSTS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488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6" name="icon FaChrome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Chrom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925" y="1932493"/>
            <a:ext cx="176662" cy="17666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07008" y="1801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$0.002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LIC playbook check on a TinyFish Browser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34640" y="1691640"/>
            <a:ext cx="21488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1" name="icon FaRobot"/>
          <p:cNvSpPr/>
          <p:nvPr/>
        </p:nvSpPr>
        <p:spPr>
          <a:xfrm>
            <a:off x="2999232" y="1828800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Robo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925" y="1932493"/>
            <a:ext cx="176662" cy="1766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93008" y="1801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$0.08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999232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Tata AIA check with the TinyFish Agent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120640" y="1691640"/>
            <a:ext cx="21488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6" name="icon FaSearch"/>
          <p:cNvSpPr/>
          <p:nvPr/>
        </p:nvSpPr>
        <p:spPr>
          <a:xfrm>
            <a:off x="5285232" y="182880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Sear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925" y="1932493"/>
            <a:ext cx="176662" cy="17666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79008" y="1801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5285232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Search, Fetch and Research reads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30906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BUSINESS MODEL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401568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2" name="icon FaUserFriends"/>
          <p:cNvSpPr/>
          <p:nvPr/>
        </p:nvSpPr>
        <p:spPr>
          <a:xfrm>
            <a:off x="713232" y="356616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3" descr="UserFriend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0" y="3679728"/>
            <a:ext cx="193487" cy="19348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43584" y="35112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CSC / NGO console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₹199 per centre a month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" y="41148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CSCs already earn ₹30 per scholarship application; 1% of 5.16 lakh CSCs ≈ ₹1.23 cr a year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837176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27" name="icon FaHandshake"/>
          <p:cNvSpPr/>
          <p:nvPr/>
        </p:nvSpPr>
        <p:spPr>
          <a:xfrm>
            <a:off x="713232" y="5001768"/>
            <a:ext cx="420624" cy="420624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mage 4" descr="Handshak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00" y="5115336"/>
            <a:ext cx="193487" cy="19348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43584" y="4946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Banks &amp; insurers</a:t>
            </a:r>
            <a:endParaRPr lang="en-US" sz="1300" dirty="0"/>
          </a:p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1% of a settled claim, capped at ₹500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13232" y="55504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Paid only after a claim settles; the citizen pays nothing for recovery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206240" y="3401568"/>
            <a:ext cx="3063240" cy="2761488"/>
          </a:xfrm>
          <a:prstGeom prst="roundRect">
            <a:avLst>
              <a:gd name="adj" fmla="val 3974"/>
            </a:avLst>
          </a:prstGeom>
          <a:solidFill>
            <a:schemeClr val="bg1"/>
          </a:solidFill>
          <a:ln w="9525">
            <a:solidFill>
              <a:srgbClr val="DCE8E5"/>
            </a:solidFill>
            <a:prstDash val="solid"/>
          </a:ln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4389120" y="3520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Year-2 projection ≈ ₹2.9 cr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conservative · ₹ crore a year</a:t>
            </a:r>
            <a:endParaRPr lang="en-US" sz="1300" dirty="0"/>
          </a:p>
        </p:txBody>
      </p:sp>
      <p:graphicFrame>
        <p:nvGraphicFramePr>
          <p:cNvPr id="33" name="Year-2 revenue projection by stream" descr=""/>
          <p:cNvGraphicFramePr/>
          <p:nvPr/>
        </p:nvGraphicFramePr>
        <p:xfrm>
          <a:off x="4297680" y="4069080"/>
          <a:ext cx="2880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4" name="Shape 26"/>
          <p:cNvSpPr/>
          <p:nvPr/>
        </p:nvSpPr>
        <p:spPr>
          <a:xfrm>
            <a:off x="7543800" y="1371600"/>
            <a:ext cx="4096512" cy="4846320"/>
          </a:xfrm>
          <a:prstGeom prst="roundRect">
            <a:avLst>
              <a:gd name="adj" fmla="val 2679"/>
            </a:avLst>
          </a:prstGeom>
          <a:solidFill>
            <a:schemeClr val="tx2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781812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36" name="icon FaMapSigns"/>
          <p:cNvSpPr/>
          <p:nvPr/>
        </p:nvSpPr>
        <p:spPr>
          <a:xfrm>
            <a:off x="7818120" y="20574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Image 5" descr="MapSign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1688" y="2170968"/>
            <a:ext cx="193487" cy="193487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394192" y="20116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Every state's schemes through the same reviewed-rules pipeline</a:t>
            </a:r>
            <a:endParaRPr lang="en-US" sz="1250" dirty="0"/>
          </a:p>
        </p:txBody>
      </p:sp>
      <p:sp>
        <p:nvSpPr>
          <p:cNvPr id="39" name="icon FaLanguage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6" descr="Languag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1688" y="2993928"/>
            <a:ext cx="193487" cy="193487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394192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Bhashini voice and more Indian languages</a:t>
            </a:r>
            <a:endParaRPr lang="en-US" sz="1250" dirty="0"/>
          </a:p>
        </p:txBody>
      </p:sp>
      <p:sp>
        <p:nvSpPr>
          <p:cNvPr id="42" name="icon FaUniversity"/>
          <p:cNvSpPr/>
          <p:nvPr/>
        </p:nvSpPr>
        <p:spPr>
          <a:xfrm>
            <a:off x="7818120" y="37033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Image 7" descr="University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1688" y="3816888"/>
            <a:ext cx="193487" cy="19348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394192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More banks and insurers as live-qualified adapters (IRDAI Bima Bharosa list)</a:t>
            </a:r>
            <a:endParaRPr lang="en-US" sz="1250" dirty="0"/>
          </a:p>
        </p:txBody>
      </p:sp>
      <p:sp>
        <p:nvSpPr>
          <p:cNvPr id="45" name="icon FaUserFriends"/>
          <p:cNvSpPr/>
          <p:nvPr/>
        </p:nvSpPr>
        <p:spPr>
          <a:xfrm>
            <a:off x="7818120" y="45262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mage 8" descr="UserFriends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1688" y="4639848"/>
            <a:ext cx="193487" cy="193487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8394192" y="4480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CSC operator mode: one operator serves a whole village</a:t>
            </a:r>
            <a:endParaRPr lang="en-US" sz="1250" dirty="0"/>
          </a:p>
        </p:txBody>
      </p:sp>
      <p:sp>
        <p:nvSpPr>
          <p:cNvPr id="48" name="icon FaDatabase"/>
          <p:cNvSpPr/>
          <p:nvPr/>
        </p:nvSpPr>
        <p:spPr>
          <a:xfrm>
            <a:off x="7818120" y="534924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9" name="Image 9" descr="Databas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1688" y="5462808"/>
            <a:ext cx="193487" cy="193487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394192" y="53035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</a:rPr>
              <a:t>SQLite → Postgres, jobs → a queue: drop-in upgrades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JAAGRUK  </a:t>
            </a:r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जागरूक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your family is owed —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found, proven, claimed.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Ayush Awasthi  ·  Saif Nasim  ·  Sagar Hundia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7" name="icon FaLayerGroup"/>
          <p:cNvSpPr/>
          <p:nvPr/>
        </p:nvSpPr>
        <p:spPr>
          <a:xfrm>
            <a:off x="749808" y="45445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LayerGrou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4692701"/>
            <a:ext cx="252374" cy="25237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44752" y="4251960"/>
            <a:ext cx="374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819656" y="42519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destinations: My plan, Life update, Paperwork, Wapsi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425196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2" name="icon FaGlobe"/>
          <p:cNvSpPr/>
          <p:nvPr/>
        </p:nvSpPr>
        <p:spPr>
          <a:xfrm>
            <a:off x="4498848" y="45445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Glob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4692701"/>
            <a:ext cx="252374" cy="25237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93792" y="4251960"/>
            <a:ext cx="374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5568696" y="4251960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TinyFish products on live .gov.in portals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4251960"/>
            <a:ext cx="356616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B5D55">
                <a:alpha val="13000"/>
              </a:srgbClr>
            </a:outerShdw>
          </a:effectLst>
        </p:spPr>
      </p:sp>
      <p:sp>
        <p:nvSpPr>
          <p:cNvPr id="17" name="icon FaCheckDouble"/>
          <p:cNvSpPr/>
          <p:nvPr/>
        </p:nvSpPr>
        <p:spPr>
          <a:xfrm>
            <a:off x="8247888" y="45445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CheckDoub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4692701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42832" y="4251960"/>
            <a:ext cx="850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</a:t>
            </a:r>
            <a:endParaRPr lang="en-US" sz="2800" dirty="0"/>
          </a:p>
        </p:txBody>
      </p:sp>
      <p:sp>
        <p:nvSpPr>
          <p:cNvPr id="20" name="Text 15"/>
          <p:cNvSpPr txBox="1"/>
          <p:nvPr/>
        </p:nvSpPr>
        <p:spPr>
          <a:xfrm>
            <a:off x="9793224" y="4251960"/>
            <a:ext cx="16824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automated tests, plus live adapter qualification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Run it:  python run.py   ·   offline:  python run.py --replay   ·   evidence: docs/VALIDATION.md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agruk Teal">
  <a:themeElements>
    <a:clrScheme name="Jaagruk Teal">
      <a:dk1>
        <a:srgbClr val="102A27"/>
      </a:dk1>
      <a:lt1>
        <a:srgbClr val="FFFFFF"/>
      </a:lt1>
      <a:dk2>
        <a:srgbClr val="0B5D55"/>
      </a:dk2>
      <a:lt2>
        <a:srgbClr val="F2F7F6"/>
      </a:lt2>
      <a:accent1>
        <a:srgbClr val="14897C"/>
      </a:accent1>
      <a:accent2>
        <a:srgbClr val="E8962A"/>
      </a:accent2>
      <a:accent3>
        <a:srgbClr val="D9534A"/>
      </a:accent3>
      <a:accent4>
        <a:srgbClr val="5B5BD6"/>
      </a:accent4>
      <a:accent5>
        <a:srgbClr val="2F80C8"/>
      </a:accent5>
      <a:accent6>
        <a:srgbClr val="6B7F7B"/>
      </a:accent6>
      <a:hlink>
        <a:srgbClr val="0B5D55"/>
      </a:hlink>
      <a:folHlink>
        <a:srgbClr val="5B5BD6"/>
      </a:folHlink>
    </a:clrScheme>
    <a:fontScheme name="Jaagruk Te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JAAGRUK — HackIIITD 2026 final submission</dc:title>
  <dc:subject>PptxGenJS Presentation</dc:subject>
  <dc:creator>Ayush Awasthi, Saif Nasim, Sagar Hundia</dc:creator>
  <cp:lastModifiedBy>Ayush Awasthi, Saif Nasim, Sagar Hundia</cp:lastModifiedBy>
  <cp:revision>1</cp:revision>
  <dcterms:created xsi:type="dcterms:W3CDTF">2026-10-25T05:22:48Z</dcterms:created>
  <dcterms:modified xsi:type="dcterms:W3CDTF">2026-10-25T05:22:48Z</dcterms:modified>
</cp:coreProperties>
</file>